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FB8CC"/>
                </a:solidFill>
                <a:latin typeface="Calibri"/>
              </a:rPr>
              <a:t>FORTRA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Engineering Assessment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Path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C7D3DF"/>
                </a:solidFill>
                <a:latin typeface="Calibri"/>
              </a:rPr>
              <a:t>Root causes behind the dev↔test loops, budget pressure, and UAT slippage — and how we fix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DEE7"/>
                </a:solidFill>
                <a:latin typeface="Calibri"/>
              </a:rPr>
              <a:t>Prepared by Liam Jeong  ·  June 25,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CONSTRUCTIVE · FORWARD-LOOKING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WHY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Purpose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A3A3A"/>
                </a:solidFill>
                <a:latin typeface="Calibri"/>
              </a:rPr>
              <a:t>This deck consolidates the team's findings into a small number of structural root causes — with concrete, checkable evidence — and a practical path forward.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3A3A3A"/>
                </a:solidFill>
                <a:latin typeface="Calibri"/>
              </a:rPr>
              <a:t>Framing: most of what is driving the loops is structural / process, not effort. The aim is to convert the team's hard work into a codebase we can change safely and ship on schedule.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2A44"/>
                </a:solidFill>
                <a:latin typeface="Calibri"/>
              </a:rPr>
              <a:t>Recommendations are calibrated to the team we actually have — 2 RCA + 3–4 SF developers, no spare runway, limited Git familiarity — so they need little time and no new tooling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983480"/>
            <a:ext cx="11183112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983480"/>
            <a:ext cx="73152" cy="1143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6F95"/>
                </a:solidFill>
                <a:latin typeface="Calibri"/>
              </a:rPr>
              <a:t>WHAT THIS IS — AND ISN'T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A3A3A"/>
                </a:solidFill>
                <a:latin typeface="Calibri"/>
              </a:rPr>
              <a:t>A root-cause assessment to inform a decision, not a critique of any individual. Every figure is reproducible from the org and dossiers. Where evidence is suggestive rather than proven, it is labeled as such.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Executive summary — four root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91440" cy="1783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F9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5564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No shared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~97% of running Apex &amp; ~99% of flows are not version-controlled; the live org is edited directly.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91440" cy="178308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97A1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75564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Quality gates aren't continuous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26771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Org-wide Apex coverage ~43–45% vs the 75% Salesforce requires to deploy to production.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2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93592"/>
            <a:ext cx="91440" cy="1783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758184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6F95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9476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Overlapping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06824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Per-line flow fan-out + a redundant subflow overflow governor (SOQL/CPU) limits on large orders.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593592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593592"/>
            <a:ext cx="91440" cy="178308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58184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97A1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79476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F2A44"/>
                </a:solidFill>
                <a:latin typeface="Calibri"/>
              </a:rPr>
              <a:t>Scope not pinned in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4306824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Volume, pricing math &amp; migration feasibility were discovered reactively in UAT.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Common thread:  </a:t>
            </a:r>
            <a:r>
              <a:rPr sz="1300" b="0" i="1">
                <a:solidFill>
                  <a:srgbClr val="3A3A3A"/>
                </a:solidFill>
                <a:latin typeface="Calibri"/>
              </a:rPr>
              <a:t>each gap turns an ordinary fix into a re-investigation — which is the mechanism behind the dev↔test loops.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BALANCE &amp; 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What's working — and where the problems concentrate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0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486400" cy="5029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63624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WORKING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50749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A large amount of functionality is built and running under real schedule pressure.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Testing found no major issues in Sales Cloud, Experience Cloud, or Data Cloud.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Core Lead → Opportunity → Quote → Order progression is familiar and functioning.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The team's effort, long hours and commitment are real and recognized by leadership.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08760"/>
            <a:ext cx="548640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508760"/>
            <a:ext cx="5486400" cy="50292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63624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WHERE THE PROBLEMS CONCENTRATE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40280"/>
            <a:ext cx="50749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Nearly all material issues sit on the Revenue Cloud Advanced (RCA) side — pricing, ordering, Workday integration.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RCA is a newer, sharper-edged platform: governor limits, ExpressionSet pricing, RLM data locks, immature migration tooling.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This narrows the problem: it is the RCA layer's engineering practices and scope definition that need attention, not the whole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5440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1">
                <a:solidFill>
                  <a:srgbClr val="1F2A44"/>
                </a:solidFill>
                <a:latin typeface="Calibri"/>
              </a:rPr>
              <a:t>Implication: fixes can be targeted, not wholesale.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ROOT CAUSE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No shared, version-controlled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629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The code that runs the org is effectively not in version control.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Only a handful of classes/flows are in a repo; the bulk lives only in the live org.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No shared team repository, no CI, no git-backed promotion path. The one repo is single-author (not shared team VCS).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So collaboration happens by editing the live org directly — no diff, no review, no rollback.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F2A44"/>
                </a:solidFill>
                <a:latin typeface="Calibri"/>
              </a:rPr>
              <a:t>This is a process gap, not a people problem: without a repo + pipeline, even careful engineers clobber each 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463040"/>
            <a:ext cx="4279392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27939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9961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(CHECKABLE)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057400"/>
            <a:ext cx="3931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force-app (deployable package): 12 Apex classes, 3 flows, 0 triggers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Live org: 404 classes, 245 flows, 10 triggers → ~97% of Apex / ~99% of flows untracked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Live-org mirror is gitignored — zero history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Documented fallout: a production gack (572633412-308158) from an in-place edit; a flow change that silently re-introduced a closed defect (fixed by reverting); a pricing formula that oscillates between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94960"/>
            <a:ext cx="11183112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94960"/>
            <a:ext cx="73152" cy="77724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F95"/>
                </a:solidFill>
                <a:latin typeface="Calibri"/>
              </a:rPr>
              <a:t>IMPACT   </a:t>
            </a:r>
            <a:r>
              <a:rPr sz="1250" b="0" i="0">
                <a:solidFill>
                  <a:srgbClr val="3A3A3A"/>
                </a:solidFill>
                <a:latin typeface="Calibri"/>
              </a:rPr>
              <a:t>Every fix starts from "what is actually live right now" — the re-discovery tax that drives the dev↔test loops.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ROOT CAUSE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Quality gates aren't 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629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Test coverage is treated as an end-of-build task, not a per-ticket habit.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Org-wide Apex coverage is well below the level Salesforce requires to deploy to production.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Several in-scope pricing classes are at very low coverage (2–37%).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F2A44"/>
                </a:solidFill>
                <a:latin typeface="Calibri"/>
              </a:rPr>
              <a:t>This is a hard platform gate — not a preference: the prod deploy is rejected until it clears, regardless of business sign-off.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463040"/>
            <a:ext cx="4279392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27939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9961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(CHECKABLE)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057400"/>
            <a:ext cx="3931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Org-wide Apex coverage ~43–45% vs the mandatory 75% production gate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In-scope pricing classes measured at 2–37% (authoritative peer-review run)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A same-day remediation pass moved overall coverage only 43% → 45%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No CI config in the repo to catch this continuously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94960"/>
            <a:ext cx="11183112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94960"/>
            <a:ext cx="73152" cy="77724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97A1E"/>
                </a:solidFill>
                <a:latin typeface="Calibri"/>
              </a:rPr>
              <a:t>IMPACT   </a:t>
            </a:r>
            <a:r>
              <a:rPr sz="1250" b="0" i="0">
                <a:solidFill>
                  <a:srgbClr val="3A3A3A"/>
                </a:solidFill>
                <a:latin typeface="Calibri"/>
              </a:rPr>
              <a:t>A hidden cutover blocker: go-live is gated until coverage clears 75% — better surfaced now than at the deadline.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ROOT CAUSE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Overlapping automation &amp; an overgrown pricing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629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Multiple automations do overlapping work on the same transaction; the pricing engine keeps growing in place.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On large orders this overflows Salesforce governor limits (SOQL &amp; Apex CPU).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"Optimize existing flows and Apex code" — raised by the team — sits here.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F2A44"/>
                </a:solidFill>
                <a:latin typeface="Calibri"/>
              </a:rPr>
              <a:t>Accreted, duplicate automation consumes the shared governor budget and makes every change riskier.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463040"/>
            <a:ext cx="4279392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27939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9961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(CHECKABLE)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057400"/>
            <a:ext cx="3931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3 OrderItem flows fan out per line → 51 flow interviews on a 17-line order → "Too many SOQL queries: 101" (UAT)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A redundant duplicate subflow was the single largest contributor (~40%) — doing work an active flow already did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A high-quantity convert breached the Apex CPU limit (401 line clones, 1,293 flow interviews)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6F95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Pricing procedure: 110 steps across ~14 in-place versions, 9 prehook/posthook classes (2 redundant pairs); 18 obsolete flows still in the 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94960"/>
            <a:ext cx="11183112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94960"/>
            <a:ext cx="73152" cy="77724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E6F95"/>
                </a:solidFill>
                <a:latin typeface="Calibri"/>
              </a:rPr>
              <a:t>IMPACT   </a:t>
            </a:r>
            <a:r>
              <a:rPr sz="1250" b="0" i="0">
                <a:solidFill>
                  <a:srgbClr val="3A3A3A"/>
                </a:solidFill>
                <a:latin typeface="Calibri"/>
              </a:rPr>
              <a:t>Large / high-value orders fail in UAT until automation is consolidated and SOQL is lifted out of loops.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ROOT CAUSE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Scope &amp; solution design not pinned down in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629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3A3A3A"/>
                </a:solidFill>
                <a:latin typeface="Calibri"/>
              </a:rPr>
              <a:t>Volume, pricing math, validations and migration feasibility were discovered during build/UAT, not up front.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Solution-design E2E flow is not fully articulated — e.g. lookup filters and field-level validations (team-raised).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No non-functional / volume requirements were captured; the realistic order-line ceiling is still an open question to the PO.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A3A3A"/>
                </a:solidFill>
                <a:latin typeface="Calibri"/>
              </a:rPr>
              <a:t>Core pricing rules remain open (multi-currency, margin-vs-discount math, new vs renewal maintenance).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F2A44"/>
                </a:solidFill>
                <a:latin typeface="Calibri"/>
              </a:rPr>
              <a:t>Each discovery becomes its own RCA → fix → retest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463040"/>
            <a:ext cx="4279392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27939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99616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(CHECKABLE)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057400"/>
            <a:ext cx="3931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Design docs contain essentially no volume/NFR requirements; order size assumed far lower than business volumes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Two governor defects found reactively in UAT (SOQL on large orders; CPU on high-quantity converts)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~24 distinct pricing / Workday-integration tickets worked in a ~3-week window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B97A1E"/>
                </a:solidFill>
                <a:latin typeface="Calibri"/>
              </a:rPr>
              <a:t>›  </a:t>
            </a:r>
            <a:r>
              <a:rPr sz="1150" b="0" i="0">
                <a:solidFill>
                  <a:srgbClr val="3A3A3A"/>
                </a:solidFill>
                <a:latin typeface="Calibri"/>
              </a:rPr>
              <a:t>Migration: ProductConfigurationRule + ≥8 other RCA objects had no supported migration path — found one-by-one during cutover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94960"/>
            <a:ext cx="11183112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94960"/>
            <a:ext cx="73152" cy="77724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97A1E"/>
                </a:solidFill>
                <a:latin typeface="Calibri"/>
              </a:rPr>
              <a:t>IMPACT   </a:t>
            </a:r>
            <a:r>
              <a:rPr sz="1250" b="0" i="0">
                <a:solidFill>
                  <a:srgbClr val="3A3A3A"/>
                </a:solidFill>
                <a:latin typeface="Calibri"/>
              </a:rPr>
              <a:t>The long tail of reactively-discovered gaps is the budget story — each gap is a fresh loop.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CONNECTING THE DOTS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How these root causes produce the loops &amp; the overrun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10312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103120" cy="109728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Scope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Calibri"/>
              </a:rPr>
              <a:t>A requirement (volume, pricing rule, validation) wasn't pinned down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11040" y="2816352"/>
            <a:ext cx="13630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52344" y="2103120"/>
            <a:ext cx="210312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2344" y="2103120"/>
            <a:ext cx="2103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23774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Surfaces in UAT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94436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Calibri"/>
              </a:rPr>
              <a:t>It fails during testing as a defect, not a known task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464" y="2816352"/>
            <a:ext cx="13630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1768" y="2103120"/>
            <a:ext cx="210312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01768" y="2103120"/>
            <a:ext cx="2103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3774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Edit live to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94436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Calibri"/>
              </a:rPr>
              <a:t>With no repo/review, the fix is made directly in the org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09888" y="2816352"/>
            <a:ext cx="13630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51192" y="2103120"/>
            <a:ext cx="210312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1192" y="2103120"/>
            <a:ext cx="2103120" cy="109728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3774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Clobber / regress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94436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Calibri"/>
              </a:rPr>
              <a:t>Another in-place edit re-breaks it or a closed defect returns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59312" y="2816352"/>
            <a:ext cx="13630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0616" y="2103120"/>
            <a:ext cx="210312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0616" y="2103120"/>
            <a:ext cx="2103120" cy="1097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23774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Re-investigate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94436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A3A3A"/>
                </a:solidFill>
                <a:latin typeface="Calibri"/>
              </a:rPr>
              <a:t>Next engineer re-retrieves to learn "what's actually live"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43400"/>
            <a:ext cx="11183112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↺  …and back to UAT — the same loop repeats, multiplied across ~24 tickets and every large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1">
                <a:solidFill>
                  <a:srgbClr val="1F2A44"/>
                </a:solidFill>
                <a:latin typeface="Calibri"/>
              </a:rPr>
              <a:t>Note: </a:t>
            </a:r>
            <a:r>
              <a:rPr sz="1250" b="0" i="1">
                <a:solidFill>
                  <a:srgbClr val="3A3A3A"/>
                </a:solidFill>
                <a:latin typeface="Calibri"/>
              </a:rPr>
              <a:t>the claim that this is the primary driver of the overrun is a reasonable inference from the pattern, not a measured share. The pattern itself — gap → UAT defect → live edit → regression → re-investigation — is well evidenced.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IF WE CHANGE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Risks if unaddressed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Cutover blocked at the platform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7276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43–45% coverage → Salesforce rejects the production deploy until a multi-day hardening pass, regardless of sign-off.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Silent regressions &amp; lost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9572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No diff/rollback on ~97% of running code → in-place edits keep clobbering and re-introducing closed defects.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Live pricing outages with no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1868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In-place edits to the single active pricing procedure (no atomic rollback) keep producing gacks, each a fresh RCA.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4164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Recurring governor failures on the biggest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04164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Without captured volumes + bulkified automation, large/high-quantity orders keep hitting SOQL/CPU limits.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4632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Unbounded UAT slippage &amp; budget overrun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86460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Each reactively-discovered gap remains its own RCA-fix-retest loop — the current pattern continues.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69280"/>
            <a:ext cx="109728" cy="713232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Bus-factor / knowledge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687568"/>
            <a:ext cx="6583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History sits with one person and others' work lives only in the live org — no safe handoff if a developer rolls 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Recommendations — calibrated to the team we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45720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99032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2A44"/>
                </a:solidFill>
                <a:latin typeface="Calibri"/>
              </a:rPr>
              <a:t>PLANNING REALITY:  </a:t>
            </a:r>
            <a:r>
              <a:rPr sz="1150" b="0" i="1">
                <a:solidFill>
                  <a:srgbClr val="3A3A3A"/>
                </a:solidFill>
                <a:latin typeface="Calibri"/>
              </a:rPr>
              <a:t>2 RCA + 3–4 SF developers · no spare runway · limited Git familiarity. Each item below needs little time and no new tooling skills.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3712463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712463" cy="54864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11680"/>
            <a:ext cx="3383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DO THIS WEEK  (near-zero cost)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42616"/>
            <a:ext cx="3383279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Name one "source-of-truth owner" who saves a dated daily org pull — gives history + rollback with NO Git for anyone else.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Shared "who's editing what today" register so two people never touch the same flow / pricing procedure at once — stops the clobbering.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Remove the one proven-redundant duplicate subflow (~40% SOQL win, already diagnosed) — fixes the large-order failure.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Freeze new pricing-procedure steps without the owner's sign-off.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5" y="1965960"/>
            <a:ext cx="3712463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5" y="1965960"/>
            <a:ext cx="3712463" cy="54864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011680"/>
            <a:ext cx="3383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BEFORE CUTOVER  (focused, time-boxed)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642616"/>
            <a:ext cx="3383279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Targeted coverage sprint on ONLY the classes that gate the prod deploy — reach 75% org-wide, not perfection everywhere.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Use the deploy tooling you already have (Gearset / change sets) for a repeatable sandbox→prod push — no command-line Git.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Lock the few highest-risk open requirements with the PO in short sessions (order-line ceiling; open pricing rules).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0" y="1965960"/>
            <a:ext cx="3712463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9910" y="1965960"/>
            <a:ext cx="3712463" cy="54864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2" y="2011680"/>
            <a:ext cx="3383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DEFER  (needs runway / resourcing)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2" y="2642616"/>
            <a:ext cx="3383279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Full pricing-procedure refactor.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Team-wide Git + CI / pull-request workflow — adopt gradually, after cutover.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Org-wide coverage beyond the deploy-gating set.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A3A3A"/>
                </a:solidFill>
                <a:latin typeface="Calibri"/>
              </a:rPr>
              <a:t>Name these openly so they're a decision, not a silent gap.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25312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PRINCIPLE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Stabilize with the people and tools we already have. Treat Git/CI maturity as a post-cutover journey, not a prerequisite for shipping.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DECISION TO FRAME WITH JOHN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Strategic options for the RCA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3A3A3A"/>
                </a:solidFill>
                <a:latin typeface="Calibri"/>
              </a:rPr>
              <a:t>A solution discussion is active with Salesforce, Coastal and Fortra. With today's team (2 RCA + 3–4 SF devs) and no spare runway, the realistic default is to stabilize; a rebuild would require new time and senior RCA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548640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86400" cy="530352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OPTION A — Stabilize in 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212848"/>
            <a:ext cx="1645920" cy="310896"/>
          </a:xfrm>
          <a:prstGeom prst="roundRect">
            <a:avLst>
              <a:gd name="adj" fmla="val 3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REALISTIC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Keep working functionality; fix process + the few high-impact technical issues.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Git-less source-of-truth owner, targeted coverage, remove the redundant subflow, lock open scope.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Achievable with the current team; lowest disruption to an imminent UAT.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Trade-off: pricing engine stays large; deeper refactor deferred to a post-cutover backlog.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103120"/>
            <a:ext cx="548640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103120"/>
            <a:ext cx="5486400" cy="530352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39696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OPTION B — Re-platform the RCA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2952" y="2212848"/>
            <a:ext cx="1645920" cy="310896"/>
          </a:xfrm>
          <a:prstGeom prst="roundRect">
            <a:avLst>
              <a:gd name="adj" fmla="val 30000"/>
            </a:avLst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NEEDS RE-RESOURCING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61488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Rebuild pricing/order automation on a clean, source-controlled foundation.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Requires additional senior RCA capacity + a reset timeline + budget — not feasible with today's team.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Risk of discarding functionality that already works.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Only consider if leadership funds a reset.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9200"/>
            <a:ext cx="11183112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91440" cy="11430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RECOMMENDED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Stabilize now (Option A). Revisit Option B only if leadership adds runway and senior RCA capacity.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7D3DF"/>
                </a:solidFill>
                <a:latin typeface="Calibri"/>
              </a:rPr>
              <a:t>Either way, the "do this week" steps come first — they cost almost nothing and de-risk both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MAKE IT CONCRETE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Proposed immediate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712463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712463" cy="54864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This week  (no new skills/tools)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Name the source-of-truth owner; start dated daily org snapshots.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Stand up the "who's editing what" register.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Remove the redundant duplicate subflow.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6F95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Book the PO session on the order-line ceiling.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415" y="1600200"/>
            <a:ext cx="3712463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71415" y="1600200"/>
            <a:ext cx="3712463" cy="54864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5" y="16459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Before cutover  (current team)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5" y="233172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1F8A70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Targeted coverage sprint on the deploy-gating classes only.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1F8A70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Repeatable sandbox→prod deploy via Gearset / change sets.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1F8A70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Lock the open pricing rules with the business.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9910" y="1600200"/>
            <a:ext cx="3712463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910" y="1600200"/>
            <a:ext cx="3712463" cy="548640"/>
          </a:xfrm>
          <a:prstGeom prst="rect">
            <a:avLst/>
          </a:prstGeom>
          <a:solidFill>
            <a:srgbClr val="B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0" y="16459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Decision gate  (leadership)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0" y="233172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Confirm stabilize vs. re-platform — tied to whether extra runway + senior RCA capacity is on the table.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B97A1E"/>
                </a:solidFill>
                <a:latin typeface="Calibri"/>
              </a:rPr>
              <a:t>☐  </a:t>
            </a:r>
            <a:r>
              <a:rPr sz="1200" b="0" i="0">
                <a:solidFill>
                  <a:srgbClr val="3A3A3A"/>
                </a:solidFill>
                <a:latin typeface="Calibri"/>
              </a:rPr>
              <a:t>Re-baseline the UAT / cutover plan against the agreed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1">
                <a:solidFill>
                  <a:srgbClr val="1F2A44"/>
                </a:solidFill>
                <a:latin typeface="Calibri"/>
              </a:rPr>
              <a:t>None of this diminishes the team's effort — it converts that effort into a codebase we can change safely and a cutover we can trust.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Evidence base (reproducible)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959352"/>
              </a:tblGrid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 (checkable)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Source control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force-app tracks 12 classes / 3 flows / 0 triggers; live org has 404 / 245 / 10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~97% Apex, ~99% flows unmanaged; live mirror gitignored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Source control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Single-author repo; other devs absent from history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Collaboration via live-org edits → clobbering, regressions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Quality gates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Org-wide coverage ~43–45% vs 75% gate; pricing classes 2–37%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Prod deploy blocked at platform tier until closed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3 OrderItem flows × 17 lines = 51 interviews → SOQL 101 (UAT)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Large-order completion fails; ~40% from a redundant subflow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Pricing procedure 110 steps / ~14 versions / 9 hook classes; 18 obsolete flows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Recurring locus of pricing regressions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Scope/discovery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~0 volume/NFR reqs in design; order ceiling open to PO; ~24 pricing tickets/3 wks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Governor defects (SOQL/CPU) found reactively in UAT</a:t>
                      </a:r>
                    </a:p>
                  </a:txBody>
                  <a:tcPr anchor="ctr" marT="27432" marB="27432" marL="73152" marR="73152">
                    <a:solidFill>
                      <a:srgbClr val="F2F4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Scope/discovery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ProductConfigurationRule + ≥8 RCA objects had no migration path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3A3A"/>
                          </a:solidFill>
                          <a:latin typeface="Calibri"/>
                        </a:rPr>
                        <a:t>Found one-by-one during cutover; unplanned effort</a:t>
                      </a:r>
                    </a:p>
                  </a:txBody>
                  <a:tcPr anchor="ctr" marT="27432" marB="27432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FB8C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Accuracy guardrails (stay defensible)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The repo has a remote, but it is a single-author personal account — describe it as "not shared team version control," not "local-only."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The large-order SOQL failure is on a UAT-only validation stack — call it a "UAT completion blocker on the largest orders," not a production blocker.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The duplicate subflow was the largest single contributor (~40%), not the sole cause — the failure was multi-cause.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Order-volume figures floated in testing are not business-confirmed — the defensible point is that the realistic ceiling was never captured and is open with the PO.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Coverage: cite the durable range (43–45% vs 75%); per-class snapshots move day-to-day.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A3A3A"/>
                </a:solidFill>
                <a:latin typeface="Calibri"/>
              </a:rPr>
              <a:t>In-place pricing-procedure editing is a recurring anti-pattern to replace — not an endorsed standard; reference the practice, not individuals.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2E6F95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3A3A3A"/>
                </a:solidFill>
                <a:latin typeface="Calibri"/>
              </a:rPr>
              <a:t>"Primary driver of the overrun" is a reasonable inference from the pattern, not a measured share — lead with the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Fortra RLM — Engineering Assessment &amp; Path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1">
                <a:solidFill>
                  <a:srgbClr val="6B7280"/>
                </a:solidFill>
                <a:latin typeface="Calibri"/>
              </a:rPr>
              <a:t>Confidential — internal working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